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 i="0">
                <a:solidFill>
                  <a:srgbClr val="39D353"/>
                </a:solidFill>
                <a:latin typeface="Courier New"/>
              </a:rPr>
              <a:t>youki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749039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8B949E"/>
                </a:solidFill>
                <a:latin typeface="Courier New"/>
              </a:rPr>
              <a:t>Container Runtime in Rust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937760" y="4572000"/>
            <a:ext cx="2286000" cy="384048"/>
          </a:xfrm>
          <a:prstGeom prst="rect">
            <a:avLst/>
          </a:prstGeom>
          <a:solidFill>
            <a:srgbClr val="0D2E16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0" y="457200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9D353"/>
                </a:solidFill>
                <a:latin typeface="Courier New"/>
              </a:rPr>
              <a:t>$ youki --version  1.x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ourier New"/>
              </a:rPr>
              <a:t>// youki-presentation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ourier New"/>
              </a:rPr>
              <a:t>01 / 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28600"/>
            <a:ext cx="1371600" cy="292608"/>
          </a:xfrm>
          <a:prstGeom prst="rect">
            <a:avLst/>
          </a:prstGeom>
          <a:solidFill>
            <a:srgbClr val="0D2E16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9D353"/>
                </a:solidFill>
                <a:latin typeface="Courier New"/>
              </a:rPr>
              <a:t>what.md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9D353"/>
                </a:solidFill>
                <a:latin typeface="Courier New"/>
              </a:rPr>
              <a:t>What is youki?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11094415" cy="4389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1018001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500" b="0">
                <a:solidFill>
                  <a:srgbClr val="E6EDF3"/>
                </a:solidFill>
                <a:latin typeface="Courier New"/>
              </a:rPr>
              <a:t>Low-level OCI runtime — a drop-in replacement for runc</a:t>
            </a:r>
          </a:p>
          <a:p>
            <a:pPr>
              <a:spcBef>
                <a:spcPts val="200"/>
              </a:spcBef>
            </a:pPr>
            <a:r>
              <a:rPr sz="600" b="0">
                <a:solidFill>
                  <a:srgbClr val="E6EDF3"/>
                </a:solidFill>
                <a:latin typeface="Courier New"/>
              </a:rPr>
              <a:t/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8B949E"/>
                </a:solidFill>
                <a:latin typeface="Courier New"/>
              </a:rPr>
              <a:t>Orchestrates Linux namespaces, cgroups, and seccomp</a:t>
            </a:r>
          </a:p>
          <a:p>
            <a:pPr>
              <a:spcBef>
                <a:spcPts val="200"/>
              </a:spcBef>
            </a:pPr>
            <a:r>
              <a:rPr sz="600" b="0">
                <a:solidFill>
                  <a:srgbClr val="E6EDF3"/>
                </a:solidFill>
                <a:latin typeface="Courier New"/>
              </a:rPr>
              <a:t/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E6EDF3"/>
                </a:solidFill>
                <a:latin typeface="Courier New"/>
              </a:rPr>
              <a:t>Written entirely in Rust  🦀</a:t>
            </a:r>
          </a:p>
          <a:p>
            <a:pPr>
              <a:spcBef>
                <a:spcPts val="200"/>
              </a:spcBef>
            </a:pPr>
            <a:r>
              <a:rPr sz="600" b="0">
                <a:solidFill>
                  <a:srgbClr val="E6EDF3"/>
                </a:solidFill>
                <a:latin typeface="Courier New"/>
              </a:rPr>
              <a:t/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39D353"/>
                </a:solidFill>
                <a:latin typeface="Courier New"/>
              </a:rPr>
              <a:t>Memory safe + 1.8× faster startup than runc</a:t>
            </a:r>
          </a:p>
          <a:p>
            <a:pPr>
              <a:spcBef>
                <a:spcPts val="200"/>
              </a:spcBef>
            </a:pPr>
            <a:r>
              <a:rPr sz="600" b="0">
                <a:solidFill>
                  <a:srgbClr val="E6EDF3"/>
                </a:solidFill>
                <a:latin typeface="Courier New"/>
              </a:rPr>
              <a:t/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8B949E"/>
                </a:solidFill>
                <a:latin typeface="Courier New"/>
              </a:rPr>
              <a:t>Compatible with Podman, containerd, Docker, Kubernetes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ourier New"/>
              </a:rPr>
              <a:t>// what_is_youki.md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ourier New"/>
              </a:rPr>
              <a:t>02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28600"/>
            <a:ext cx="1371600" cy="292608"/>
          </a:xfrm>
          <a:prstGeom prst="rect">
            <a:avLst/>
          </a:prstGeom>
          <a:solidFill>
            <a:srgbClr val="0D2E16"/>
          </a:solidFill>
          <a:ln w="12700"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9C0FF"/>
                </a:solidFill>
                <a:latin typeface="Courier New"/>
              </a:rPr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Courier New"/>
              </a:rPr>
              <a:t>//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E6EDF3"/>
                </a:solidFill>
                <a:latin typeface="Courier New"/>
              </a:rPr>
              <a:t>What is a container runtime?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B949E"/>
                </a:solidFill>
                <a:latin typeface="Courier New"/>
              </a:rPr>
              <a:t>The container stack has multiple layers. Let's see where youki fits.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2834640"/>
            <a:ext cx="8869680" cy="56692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2834640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Courier New"/>
              </a:rPr>
              <a:t>podman · docker · kubectl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834640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Courier New"/>
              </a:rPr>
              <a:t>CLI Layer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0" y="3474720"/>
            <a:ext cx="8869680" cy="56692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3474720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Courier New"/>
              </a:rPr>
              <a:t>containerd · dockerd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474720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Courier New"/>
              </a:rPr>
              <a:t>Container Engine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0" y="4114800"/>
            <a:ext cx="8869680" cy="56692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37360" y="4114800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Courier New"/>
              </a:rPr>
              <a:t>conmon · cri-o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114800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Courier New"/>
              </a:rPr>
              <a:t>High-level Runtime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0" y="4754880"/>
            <a:ext cx="8869680" cy="566928"/>
          </a:xfrm>
          <a:prstGeom prst="rect">
            <a:avLst/>
          </a:prstGeom>
          <a:solidFill>
            <a:srgbClr val="0D2E16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37360" y="4754880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D353"/>
                </a:solidFill>
                <a:latin typeface="Courier New"/>
              </a:rPr>
              <a:t>youki  ← WE ARE HERE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754880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Courier New"/>
              </a:rPr>
              <a:t>Low-level Runtime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20" y="5394960"/>
            <a:ext cx="886968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37360" y="5394960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9C0FF"/>
                </a:solidFill>
                <a:latin typeface="Courier New"/>
              </a:rPr>
              <a:t>namespaces · cgroups · seccomp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5394960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Courier New"/>
              </a:rPr>
              <a:t>Linux Kernel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ourier New"/>
              </a:rPr>
              <a:t>// container_stack.md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ourier New"/>
              </a:rPr>
              <a:t>03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28600"/>
            <a:ext cx="1371600" cy="292608"/>
          </a:xfrm>
          <a:prstGeom prst="rect">
            <a:avLst/>
          </a:prstGeom>
          <a:solidFill>
            <a:srgbClr val="0D2E16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9D353"/>
                </a:solidFill>
                <a:latin typeface="Courier New"/>
              </a:rPr>
              <a:t>DEMO conmon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9D353"/>
                </a:solidFill>
                <a:latin typeface="Courier New"/>
              </a:rPr>
              <a:t>Daemonless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Courier New"/>
              </a:rPr>
              <a:t>Process hierarchy when you run:  $ podman run alpine sleep 300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828800"/>
            <a:ext cx="6400800" cy="603504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1828800"/>
            <a:ext cx="6126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Courier New"/>
              </a:rPr>
              <a:t>podman run  (CLI — exits immediately)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244327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B949E"/>
                </a:solidFill>
                <a:latin typeface="Courier New"/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2816352"/>
            <a:ext cx="6400800" cy="603504"/>
          </a:xfrm>
          <a:prstGeom prst="rect">
            <a:avLst/>
          </a:prstGeom>
          <a:solidFill>
            <a:srgbClr val="161B22"/>
          </a:solidFill>
          <a:ln w="12700">
            <a:solidFill>
              <a:srgbClr val="39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2816352"/>
            <a:ext cx="6126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9C5CF"/>
                </a:solidFill>
                <a:latin typeface="Courier New"/>
              </a:rPr>
              <a:t>conmon  (stays alive · 1 per container)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34308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B949E"/>
                </a:solidFill>
                <a:latin typeface="Courier New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3803904"/>
            <a:ext cx="6400800" cy="603504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3803904"/>
            <a:ext cx="6126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3B341"/>
                </a:solidFill>
                <a:latin typeface="Courier New"/>
              </a:rPr>
              <a:t>youki  (exits after container is created)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44183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B949E"/>
                </a:solidFill>
                <a:latin typeface="Courier New"/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4791456"/>
            <a:ext cx="6400800" cy="603504"/>
          </a:xfrm>
          <a:prstGeom prst="rect">
            <a:avLst/>
          </a:prstGeom>
          <a:solidFill>
            <a:srgbClr val="0D2E16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1800" y="4791456"/>
            <a:ext cx="6126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9D353"/>
                </a:solidFill>
                <a:latin typeface="Courier New"/>
              </a:rPr>
              <a:t>sleep 300  (your container process · PID owned by conmon)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ourier New"/>
              </a:rPr>
              <a:t>// DEMO conmon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ourier New"/>
              </a:rPr>
              <a:t>04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9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6EDF3"/>
                </a:solidFill>
                <a:latin typeface="Courier New"/>
              </a:rPr>
              <a:t>Linux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Courier New"/>
              </a:rPr>
              <a:t>youki orchestrates all three — that's what makes a container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3474720" cy="4480560"/>
          </a:xfrm>
          <a:prstGeom prst="rect">
            <a:avLst/>
          </a:prstGeom>
          <a:solidFill>
            <a:srgbClr val="161B22"/>
          </a:solidFill>
          <a:ln w="19050">
            <a:solidFill>
              <a:srgbClr val="39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3474720" cy="502920"/>
          </a:xfrm>
          <a:prstGeom prst="rect">
            <a:avLst/>
          </a:prstGeom>
          <a:solidFill>
            <a:srgbClr val="21262D"/>
          </a:solidFill>
          <a:ln>
            <a:solidFill>
              <a:srgbClr val="39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9C5CF"/>
                </a:solidFill>
                <a:latin typeface="Courier New"/>
              </a:rPr>
              <a:t>Namespaces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671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Courier New"/>
              </a:rPr>
              <a:t>Isolate what a process can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4320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ourier New"/>
              </a:rPr>
              <a:t>▸  pid — own process tree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01568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ourier New"/>
              </a:rPr>
              <a:t>▸  net — own network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59936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ourier New"/>
              </a:rPr>
              <a:t>▸  mnt — own filesystem 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18304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ourier New"/>
              </a:rPr>
              <a:t>▸  uts — own hostname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600200"/>
            <a:ext cx="3474720" cy="4480560"/>
          </a:xfrm>
          <a:prstGeom prst="rect">
            <a:avLst/>
          </a:prstGeom>
          <a:solidFill>
            <a:srgbClr val="161B22"/>
          </a:solidFill>
          <a:ln w="1905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1600200"/>
            <a:ext cx="3474720" cy="502920"/>
          </a:xfrm>
          <a:prstGeom prst="rect">
            <a:avLst/>
          </a:prstGeom>
          <a:solidFill>
            <a:srgbClr val="21262D"/>
          </a:solidFill>
          <a:ln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6459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883E"/>
                </a:solidFill>
                <a:latin typeface="Courier New"/>
              </a:rPr>
              <a:t>cgroups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1671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Courier New"/>
              </a:rPr>
              <a:t>Limit what a process can 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74320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ourier New"/>
              </a:rPr>
              <a:t>▸  CPU — throttle usage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401568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ourier New"/>
              </a:rPr>
              <a:t>▸  Memory — set hard limits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059936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ourier New"/>
              </a:rPr>
              <a:t>▸  I/O — bandwidth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718304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ourier New"/>
              </a:rPr>
              <a:t>▸  PIDs — max processes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1600200"/>
            <a:ext cx="3474720" cy="4480560"/>
          </a:xfrm>
          <a:prstGeom prst="rect">
            <a:avLst/>
          </a:prstGeom>
          <a:solidFill>
            <a:srgbClr val="161B22"/>
          </a:solidFill>
          <a:ln w="1905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01000" y="1600200"/>
            <a:ext cx="3474720" cy="502920"/>
          </a:xfrm>
          <a:prstGeom prst="rect">
            <a:avLst/>
          </a:prstGeom>
          <a:solidFill>
            <a:srgbClr val="21262D"/>
          </a:solidFill>
          <a:ln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40" y="16459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2A8FF"/>
                </a:solidFill>
                <a:latin typeface="Courier New"/>
              </a:rPr>
              <a:t>seccomp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21671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Courier New"/>
              </a:rPr>
              <a:t>Filter what a process can CALL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274320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ourier New"/>
              </a:rPr>
              <a:t>▸  Syscall allowlist / denylist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3401568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ourier New"/>
              </a:rPr>
              <a:t>▸  Blocks unused kernel APIs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4059936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ourier New"/>
              </a:rPr>
              <a:t>▸  Reduces attack surface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4718304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ourier New"/>
              </a:rPr>
              <a:t>▸  Default: ~300 syscalls allowed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ourier New"/>
              </a:rPr>
              <a:t>// kernel_primitives.md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28655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ourier New"/>
              </a:rPr>
              <a:t>05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28600"/>
            <a:ext cx="1371600" cy="292608"/>
          </a:xfrm>
          <a:prstGeom prst="rect">
            <a:avLst/>
          </a:prstGeom>
          <a:solidFill>
            <a:srgbClr val="0D2E16"/>
          </a:solidFill>
          <a:ln w="1270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0883E"/>
                </a:solidFill>
                <a:latin typeface="Courier New"/>
              </a:rPr>
              <a:t>OCI Spec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0883E"/>
                </a:solidFill>
                <a:latin typeface="Courier New"/>
              </a:rPr>
              <a:t>OCI Runtime Specification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094415" cy="2743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036289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600" b="1">
                <a:solidFill>
                  <a:srgbClr val="E6EDF3"/>
                </a:solidFill>
                <a:latin typeface="Courier New"/>
              </a:rPr>
              <a:t>Standard contract between runtimes and container engines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E6EDF3"/>
                </a:solidFill>
                <a:latin typeface="Courier New"/>
              </a:rPr>
              <a:t/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79C0FF"/>
                </a:solidFill>
                <a:latin typeface="Courier New"/>
              </a:rPr>
              <a:t>Lifecycle commands:  create · start · kill · delete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E6EDF3"/>
                </a:solidFill>
                <a:latin typeface="Courier New"/>
              </a:rPr>
              <a:t/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E6EDF3"/>
                </a:solidFill>
                <a:latin typeface="Courier New"/>
              </a:rPr>
              <a:t>config.json  — defines namespaces, cgroups, mounts, capabilities, seccomp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E6EDF3"/>
                </a:solidFill>
                <a:latin typeface="Courier New"/>
              </a:rPr>
              <a:t/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8B949E"/>
                </a:solidFill>
                <a:latin typeface="Courier New"/>
              </a:rPr>
              <a:t>Set permanent runtime:  /etc/containers/containers.conf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949E"/>
                </a:solidFill>
                <a:latin typeface="Courier New"/>
              </a:rPr>
              <a:t>How youki uses the spec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754880"/>
            <a:ext cx="2173163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828032"/>
            <a:ext cx="212744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949E"/>
                </a:solidFill>
                <a:latin typeface="Courier New"/>
              </a:rPr>
              <a:t>1. Parse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230368"/>
            <a:ext cx="212744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urier New"/>
              </a:rPr>
              <a:t>Read config.json → validate OCI spec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67523" y="4754880"/>
            <a:ext cx="2173163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13243" y="4828032"/>
            <a:ext cx="212744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949E"/>
                </a:solidFill>
                <a:latin typeface="Courier New"/>
              </a:rPr>
              <a:t>2. Prepare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3243" y="5230368"/>
            <a:ext cx="212744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urier New"/>
              </a:rPr>
              <a:t>Create state dir, set up rootfs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6406" y="4754880"/>
            <a:ext cx="2173163" cy="1554480"/>
          </a:xfrm>
          <a:prstGeom prst="rect">
            <a:avLst/>
          </a:prstGeom>
          <a:solidFill>
            <a:srgbClr val="0D2E16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32126" y="4828032"/>
            <a:ext cx="212744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9D353"/>
                </a:solidFill>
                <a:latin typeface="Courier New"/>
              </a:rPr>
              <a:t>3. Fork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32126" y="5230368"/>
            <a:ext cx="212744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urier New"/>
              </a:rPr>
              <a:t>clone(2) with namespace flags → child process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05289" y="4754880"/>
            <a:ext cx="2173163" cy="1554480"/>
          </a:xfrm>
          <a:prstGeom prst="rect">
            <a:avLst/>
          </a:prstGeom>
          <a:solidFill>
            <a:srgbClr val="0D2E16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51009" y="4828032"/>
            <a:ext cx="212744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9D353"/>
                </a:solidFill>
                <a:latin typeface="Courier New"/>
              </a:rPr>
              <a:t>4. Setup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1009" y="5230368"/>
            <a:ext cx="212744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urier New"/>
              </a:rPr>
              <a:t>Mount rootfs, configure cgroups, apply seccomp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24172" y="4754880"/>
            <a:ext cx="2173163" cy="1554480"/>
          </a:xfrm>
          <a:prstGeom prst="rect">
            <a:avLst/>
          </a:prstGeom>
          <a:solidFill>
            <a:srgbClr val="0D2E16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69892" y="4828032"/>
            <a:ext cx="212744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9D353"/>
                </a:solidFill>
                <a:latin typeface="Courier New"/>
              </a:rPr>
              <a:t>5. Exec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9892" y="5230368"/>
            <a:ext cx="212744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Courier New"/>
              </a:rPr>
              <a:t>pivot_root → drop caps → execve(entrypoint)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ourier New"/>
              </a:rPr>
              <a:t>// oci_spec.md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ourier New"/>
              </a:rPr>
              <a:t>06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28600"/>
            <a:ext cx="1371600" cy="292608"/>
          </a:xfrm>
          <a:prstGeom prst="rect">
            <a:avLst/>
          </a:prstGeom>
          <a:solidFill>
            <a:srgbClr val="0D2E16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3B341"/>
                </a:solidFill>
                <a:latin typeface="Courier New"/>
              </a:rPr>
              <a:t>config.json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3B341"/>
                </a:solidFill>
                <a:latin typeface="Courier New"/>
              </a:rPr>
              <a:t>config.json — OCI Container Spec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669280" cy="5212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9D353"/>
                </a:solidFill>
                <a:latin typeface="Courier New"/>
              </a:rPr>
              <a:t>{
  "process": {
    "args": ["/bin/sh"],
    "cwd": "/"
  },
  "linux": {
    "namespaces": [
      { "type": "pid" },
      { "type": "network" }
    ],
    "resources": {
      "memory": { "limit": 536870912 }
    },
    "seccomp": {
      "defaultAction": "SCMP_ACT_ERRNO",
      "syscalls": [
        { "names": ["read","write","exit"], "action": "SCMP_ACT_ALLOW" }
      ]
    }
  }
}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645920"/>
            <a:ext cx="5120640" cy="1188720"/>
          </a:xfrm>
          <a:prstGeom prst="rect">
            <a:avLst/>
          </a:prstGeom>
          <a:solidFill>
            <a:srgbClr val="21262D"/>
          </a:solidFill>
          <a:ln w="12700">
            <a:solidFill>
              <a:srgbClr val="39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91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C5CF"/>
                </a:solidFill>
                <a:latin typeface="Courier New"/>
              </a:rPr>
              <a:t>NAMESPACES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</a:rPr>
              <a:t>clone(2) called with
CLONE_NEWPID | CLONE_NEWNET flags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3017520"/>
            <a:ext cx="5120640" cy="1188720"/>
          </a:xfrm>
          <a:prstGeom prst="rect">
            <a:avLst/>
          </a:prstGeom>
          <a:solidFill>
            <a:srgbClr val="21262D"/>
          </a:solidFill>
          <a:ln w="1270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30632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883E"/>
                </a:solidFill>
                <a:latin typeface="Courier New"/>
              </a:rPr>
              <a:t>CGROUPS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3832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</a:rPr>
              <a:t>youki writes limits to
/sys/fs/cgroup/memory.max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4389120"/>
            <a:ext cx="5120640" cy="1188720"/>
          </a:xfrm>
          <a:prstGeom prst="rect">
            <a:avLst/>
          </a:prstGeom>
          <a:solidFill>
            <a:srgbClr val="21262D"/>
          </a:solidFill>
          <a:ln w="127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4348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2A8FF"/>
                </a:solidFill>
                <a:latin typeface="Courier New"/>
              </a:rPr>
              <a:t>SECCOMP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7548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</a:rPr>
              <a:t>profile passed to kernel
via seccomp(2) syscall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ourier New"/>
              </a:rPr>
              <a:t>// config.json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8655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ourier New"/>
              </a:rPr>
              <a:t>07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9D353"/>
                </a:solidFill>
                <a:latin typeface="Courier New"/>
              </a:rPr>
              <a:t>How youki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Courier New"/>
              </a:rPr>
              <a:t>From config.json to a running container — 6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201168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949E"/>
                </a:solidFill>
                <a:latin typeface="Courier New"/>
              </a:rPr>
              <a:t>Step</a:t>
            </a:r>
          </a:p>
        </p:txBody>
      </p:sp>
      <p:sp>
        <p:nvSpPr>
          <p:cNvPr id="7" name="Rectangle 6"/>
          <p:cNvSpPr/>
          <p:nvPr/>
        </p:nvSpPr>
        <p:spPr>
          <a:xfrm>
            <a:off x="2606040" y="1600200"/>
            <a:ext cx="9037015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97480" y="1600200"/>
            <a:ext cx="90370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949E"/>
                </a:solidFill>
                <a:latin typeface="Courier New"/>
              </a:rPr>
              <a:t>Action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13432"/>
            <a:ext cx="201168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13432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949E"/>
                </a:solidFill>
                <a:latin typeface="Courier New"/>
              </a:rPr>
              <a:t>1  Parse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2313432"/>
            <a:ext cx="9037015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2313432"/>
            <a:ext cx="90370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ourier New"/>
              </a:rPr>
              <a:t>Read config.json → validate OCI spec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26664"/>
            <a:ext cx="201168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26664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949E"/>
                </a:solidFill>
                <a:latin typeface="Courier New"/>
              </a:rPr>
              <a:t>2  Prepare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3026664"/>
            <a:ext cx="9037015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3026664"/>
            <a:ext cx="90370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ourier New"/>
              </a:rPr>
              <a:t>Create state dir, set up rootfs, spec validation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39896"/>
            <a:ext cx="2011680" cy="658368"/>
          </a:xfrm>
          <a:prstGeom prst="rect">
            <a:avLst/>
          </a:prstGeom>
          <a:solidFill>
            <a:srgbClr val="0D2E16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739896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D353"/>
                </a:solidFill>
                <a:latin typeface="Courier New"/>
              </a:rPr>
              <a:t>3  Fork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6040" y="3739896"/>
            <a:ext cx="9037015" cy="658368"/>
          </a:xfrm>
          <a:prstGeom prst="rect">
            <a:avLst/>
          </a:prstGeom>
          <a:solidFill>
            <a:srgbClr val="0D2E16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97480" y="3739896"/>
            <a:ext cx="90370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ourier New"/>
              </a:rPr>
              <a:t>clone(2) with namespace flags → child process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453128"/>
            <a:ext cx="2011680" cy="658368"/>
          </a:xfrm>
          <a:prstGeom prst="rect">
            <a:avLst/>
          </a:prstGeom>
          <a:solidFill>
            <a:srgbClr val="0D2E16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453128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D353"/>
                </a:solidFill>
                <a:latin typeface="Courier New"/>
              </a:rPr>
              <a:t>4  Setup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4453128"/>
            <a:ext cx="9037015" cy="658368"/>
          </a:xfrm>
          <a:prstGeom prst="rect">
            <a:avLst/>
          </a:prstGeom>
          <a:solidFill>
            <a:srgbClr val="0D2E16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97480" y="4453128"/>
            <a:ext cx="90370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ourier New"/>
              </a:rPr>
              <a:t>Mount rootfs, configure cgroups, apply seccomp profile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166360"/>
            <a:ext cx="2011680" cy="658368"/>
          </a:xfrm>
          <a:prstGeom prst="rect">
            <a:avLst/>
          </a:prstGeom>
          <a:solidFill>
            <a:srgbClr val="0D2E16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166360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D353"/>
                </a:solidFill>
                <a:latin typeface="Courier New"/>
              </a:rPr>
              <a:t>5  Exec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06040" y="5166360"/>
            <a:ext cx="9037015" cy="658368"/>
          </a:xfrm>
          <a:prstGeom prst="rect">
            <a:avLst/>
          </a:prstGeom>
          <a:solidFill>
            <a:srgbClr val="0D2E16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97480" y="5166360"/>
            <a:ext cx="90370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ourier New"/>
              </a:rPr>
              <a:t>pivot_root → drop capabilities → execve(entrypoint)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879592"/>
            <a:ext cx="201168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879592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949E"/>
                </a:solidFill>
                <a:latin typeface="Courier New"/>
              </a:rPr>
              <a:t>6  Track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06040" y="5879592"/>
            <a:ext cx="9037015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97480" y="5879592"/>
            <a:ext cx="90370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ourier New"/>
              </a:rPr>
              <a:t>Write PID + state, set up hooks, report back to container engine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638544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ourier New"/>
              </a:rPr>
              <a:t>TIP: trace with  strace -f -e clone,execve,pivot_root  to see every syscall live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ourier New"/>
              </a:rPr>
              <a:t>// libcontainer/init.rs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ourier New"/>
              </a:rPr>
              <a:t>08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79C0FF"/>
                </a:solidFill>
                <a:latin typeface="Courier New"/>
              </a:rPr>
              <a:t>youki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047" y="1280160"/>
            <a:ext cx="365760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76775" y="1280160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949E"/>
                </a:solidFill>
                <a:latin typeface="Courier New"/>
              </a:rPr>
              <a:t>$ podman run alpine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15303" y="1280160"/>
            <a:ext cx="15361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ourier New"/>
              </a:rPr>
              <a:t>CLI invocation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67247" y="19568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B949E"/>
                </a:solidFill>
                <a:latin typeface="Courier New"/>
              </a:rPr>
              <a:t>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1287" y="2258568"/>
            <a:ext cx="438912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11015" y="2258568"/>
            <a:ext cx="24140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9C0FF"/>
                </a:solidFill>
                <a:latin typeface="Courier New"/>
              </a:rPr>
              <a:t>crates/youki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9194" y="2258568"/>
            <a:ext cx="184343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ourier New"/>
              </a:rPr>
              <a:t>CLI entry point → maps OCI commands to libcontainer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67247" y="29352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B949E"/>
                </a:solidFill>
                <a:latin typeface="Courier New"/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35527" y="3236976"/>
            <a:ext cx="5120640" cy="658368"/>
          </a:xfrm>
          <a:prstGeom prst="rect">
            <a:avLst/>
          </a:prstGeom>
          <a:solidFill>
            <a:srgbClr val="0D2E16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5255" y="3236976"/>
            <a:ext cx="2816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9D353"/>
                </a:solidFill>
                <a:latin typeface="Courier New"/>
              </a:rPr>
              <a:t>crates/libcontainer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3085" y="3236976"/>
            <a:ext cx="21506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ourier New"/>
              </a:rPr>
              <a:t>Core logic: namespaces, rootfs, seccomp, clone() + pivot_root()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67247" y="39136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B949E"/>
                </a:solidFill>
                <a:latin typeface="Courier New"/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01287" y="4215384"/>
            <a:ext cx="438912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11015" y="4215384"/>
            <a:ext cx="24140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883E"/>
                </a:solidFill>
                <a:latin typeface="Courier New"/>
              </a:rPr>
              <a:t>libcgroups  |  oci-spec-rs  |  nix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9194" y="4215384"/>
            <a:ext cx="184343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ourier New"/>
              </a:rPr>
              <a:t>Utility crates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67247" y="4892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B949E"/>
                </a:solidFill>
                <a:latin typeface="Courier New"/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67047" y="5193792"/>
            <a:ext cx="365760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39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6775" y="5193792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9C5CF"/>
                </a:solidFill>
                <a:latin typeface="Courier New"/>
              </a:rPr>
              <a:t>Linux Kernel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5303" y="5193792"/>
            <a:ext cx="15361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ourier New"/>
              </a:rPr>
              <a:t>clone · mount · pivot_root · cgroup files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ourier New"/>
              </a:rPr>
              <a:t>// Cargo.toml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ourier New"/>
              </a:rPr>
              <a:t>09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79C0FF"/>
                </a:solidFill>
                <a:latin typeface="Courier New"/>
              </a:rPr>
              <a:t>Crate Responsibilities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3291840" cy="713232"/>
          </a:xfrm>
          <a:prstGeom prst="rect">
            <a:avLst/>
          </a:prstGeom>
          <a:solidFill>
            <a:srgbClr val="0D2E16"/>
          </a:solidFill>
          <a:ln w="12700"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108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9C0FF"/>
                </a:solidFill>
                <a:latin typeface="Courier New"/>
              </a:rPr>
              <a:t>crates/youki</a:t>
            </a:r>
          </a:p>
        </p:txBody>
      </p:sp>
      <p:sp>
        <p:nvSpPr>
          <p:cNvPr id="6" name="Rectangle 5"/>
          <p:cNvSpPr/>
          <p:nvPr/>
        </p:nvSpPr>
        <p:spPr>
          <a:xfrm>
            <a:off x="3886200" y="1371600"/>
            <a:ext cx="7756855" cy="713232"/>
          </a:xfrm>
          <a:prstGeom prst="rect">
            <a:avLst/>
          </a:prstGeom>
          <a:solidFill>
            <a:srgbClr val="0D2E16"/>
          </a:solidFill>
          <a:ln w="12700"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77640" y="1371600"/>
            <a:ext cx="757397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ourier New"/>
              </a:rPr>
              <a:t>CLI entry point → maps OCI commands to libcontainer calls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39696"/>
            <a:ext cx="3291840" cy="713232"/>
          </a:xfrm>
          <a:prstGeom prst="rect">
            <a:avLst/>
          </a:prstGeom>
          <a:solidFill>
            <a:srgbClr val="0D2E16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39696"/>
            <a:ext cx="3108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D353"/>
                </a:solidFill>
                <a:latin typeface="Courier New"/>
              </a:rPr>
              <a:t>crates/libcontainer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86200" y="2139696"/>
            <a:ext cx="7756855" cy="713232"/>
          </a:xfrm>
          <a:prstGeom prst="rect">
            <a:avLst/>
          </a:prstGeom>
          <a:solidFill>
            <a:srgbClr val="0D2E16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40" y="2139696"/>
            <a:ext cx="757397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ourier New"/>
              </a:rPr>
              <a:t>Core logic — namespaces, rootfs, seccomp, clone() + pivot_root()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07792"/>
            <a:ext cx="329184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07792"/>
            <a:ext cx="3108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883E"/>
                </a:solidFill>
                <a:latin typeface="Courier New"/>
              </a:rPr>
              <a:t>crates/libcgroups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86200" y="2907792"/>
            <a:ext cx="7756855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7640" y="2907792"/>
            <a:ext cx="757397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ourier New"/>
              </a:rPr>
              <a:t>Writes resource limits to /sys/fs/cgroup/ — cgroups v1 &amp; v2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75888"/>
            <a:ext cx="329184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75888"/>
            <a:ext cx="3108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2A8FF"/>
                </a:solidFill>
                <a:latin typeface="Courier New"/>
              </a:rPr>
              <a:t>oci-spec-rs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86200" y="3675888"/>
            <a:ext cx="7756855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40" y="3675888"/>
            <a:ext cx="757397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ourier New"/>
              </a:rPr>
              <a:t>Parses config.json into typed Rust structs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443984"/>
            <a:ext cx="329184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443984"/>
            <a:ext cx="3108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9C5CF"/>
                </a:solidFill>
                <a:latin typeface="Courier New"/>
              </a:rPr>
              <a:t>nix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86200" y="4443984"/>
            <a:ext cx="7756855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40" y="4443984"/>
            <a:ext cx="757397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ourier New"/>
              </a:rPr>
              <a:t>Safe Rust wrappers over Linux syscalls — no unsafe boilerplate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ourier New"/>
              </a:rPr>
              <a:t>// Cargo.toml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ourier New"/>
              </a:rPr>
              <a:t>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28600"/>
            <a:ext cx="1371600" cy="292608"/>
          </a:xfrm>
          <a:prstGeom prst="rect">
            <a:avLst/>
          </a:prstGeom>
          <a:solidFill>
            <a:srgbClr val="0D2E16"/>
          </a:solidFill>
          <a:ln w="127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2A8FF"/>
                </a:solidFill>
                <a:latin typeface="Courier New"/>
              </a:rPr>
              <a:t>why_rust.md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D2A8FF"/>
                </a:solidFill>
                <a:latin typeface="Courier New"/>
              </a:rPr>
              <a:t>Why Rust?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94415" cy="822960"/>
          </a:xfrm>
          <a:prstGeom prst="rect">
            <a:avLst/>
          </a:prstGeom>
          <a:solidFill>
            <a:srgbClr val="21262D"/>
          </a:solidFill>
          <a:ln w="127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61872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  <a:latin typeface="Courier New"/>
              </a:rPr>
              <a:t>Why not Go (like runc) or C (like crun)?   →   Rust gives C-level performance + compile-time memory safety — no trade-off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11094415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2A8FF"/>
                </a:solidFill>
                <a:latin typeface="Courier New"/>
              </a:rPr>
              <a:t>🔒  Memory Safety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70048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ourier New"/>
              </a:rPr>
              <a:t>Ownership model — no use-after-free, no buffer overflows at compile 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73552"/>
            <a:ext cx="11094415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3192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2A8FF"/>
                </a:solidFill>
                <a:latin typeface="Courier New"/>
              </a:rPr>
              <a:t>⚡  No GC Pauses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490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ourier New"/>
              </a:rPr>
              <a:t>Deterministic latency — critical for process that creates containers at scale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352544"/>
            <a:ext cx="11094415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39826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2A8FF"/>
                </a:solidFill>
                <a:latin typeface="Courier New"/>
              </a:rPr>
              <a:t>🔧  C Interop (FFI)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2803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ourier New"/>
              </a:rPr>
              <a:t>Calls libseccomp, libc — zero-cost syscall wrappers via the nix crate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ourier New"/>
              </a:rPr>
              <a:t>// why_rust.md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8655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ourier New"/>
              </a:rPr>
              <a:t>11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D2A8FF"/>
                </a:solidFill>
                <a:latin typeface="Courier New"/>
              </a:rPr>
              <a:t>The Borrow Checker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Courier New"/>
              </a:rPr>
              <a:t>libcontainer/namespaces.rs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685800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6583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9D353"/>
                </a:solidFill>
                <a:latin typeface="Courier New"/>
              </a:rPr>
              <a:t>fn setup_namespaces(spec: &amp;Spec) -&gt; Result&lt;()&gt; {
    // compiler tracks ownership — ns cannot outlive spec
    let ns = spec.linux().namespaces();  // Option&lt;&amp;Vec&lt;..&gt;&gt;
    for namespace in ns.iter().flatten() {
        unshare_or_setns(namespace)?;  // ? = propagate error up immediately
    }
    Ok(())
}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251960"/>
            <a:ext cx="11094415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3B341"/>
                </a:solidFill>
                <a:latin typeface="Courier New"/>
              </a:rPr>
              <a:t>? operator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4297680"/>
            <a:ext cx="917417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ourier New"/>
              </a:rPr>
              <a:t>`?` propagates errors at every syscall — no silent failures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37176"/>
            <a:ext cx="11094415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882896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2A8FF"/>
                </a:solidFill>
                <a:latin typeface="Courier New"/>
              </a:rPr>
              <a:t>Ownership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4882896"/>
            <a:ext cx="917417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ourier New"/>
              </a:rPr>
              <a:t>Prevents use-after-free — enforced at compile time, not runtime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422392"/>
            <a:ext cx="11094415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468112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C5CF"/>
                </a:solidFill>
                <a:latin typeface="Courier New"/>
              </a:rPr>
              <a:t>Result&lt;T&gt;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468112"/>
            <a:ext cx="917417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ourier New"/>
              </a:rPr>
              <a:t>Every syscall returns Result — errors must be handled explicitly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007608"/>
            <a:ext cx="11094415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053328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883E"/>
                </a:solidFill>
                <a:latin typeface="Courier New"/>
              </a:rPr>
              <a:t>No GC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6053328"/>
            <a:ext cx="917417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ourier New"/>
              </a:rPr>
              <a:t>No garbage collector pauses — deterministic latency for containers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ourier New"/>
              </a:rPr>
              <a:t>// libcontainer/namespaces.rs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ourier New"/>
              </a:rPr>
              <a:t>12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28600"/>
            <a:ext cx="1371600" cy="292608"/>
          </a:xfrm>
          <a:prstGeom prst="rect">
            <a:avLst/>
          </a:prstGeom>
          <a:solidFill>
            <a:srgbClr val="0D2E16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9D353"/>
                </a:solidFill>
                <a:latin typeface="Courier New"/>
              </a:rPr>
              <a:t>benchmark.sh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9D353"/>
                </a:solidFill>
                <a:latin typeface="Courier New"/>
              </a:rPr>
              <a:t>DEMO: Run &amp; Measure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Courier New"/>
              </a:rPr>
              <a:t>youki vs runc vs crun — same Podman, same image, same command — only --runtime changes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3637178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34542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9D353"/>
                </a:solidFill>
                <a:latin typeface="Courier New"/>
              </a:rPr>
              <a:t>youki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84831"/>
            <a:ext cx="3454298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9D353"/>
                </a:solidFill>
                <a:latin typeface="Courier New"/>
              </a:rPr>
              <a:t># Podman · youki — startup time (100 containers)
$ time for i in $(seq 1 100); do
    podman run --runtime youki --rm alpine echo hi
  done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7258" y="1600200"/>
            <a:ext cx="3637178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8698" y="1664208"/>
            <a:ext cx="34542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9C0FF"/>
                </a:solidFill>
                <a:latin typeface="Courier New"/>
              </a:rPr>
              <a:t>runc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8698" y="2084831"/>
            <a:ext cx="3454298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6EDF3"/>
                </a:solidFill>
                <a:latin typeface="Courier New"/>
              </a:rPr>
              <a:t># Podman · runc — startup time (100 containers)
$ time for i in $(seq 1 100); do
    podman run --runtime runc --rm alpine echo hi
  done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5876" y="1600200"/>
            <a:ext cx="3637178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7316" y="1664208"/>
            <a:ext cx="34542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883E"/>
                </a:solidFill>
                <a:latin typeface="Courier New"/>
              </a:rPr>
              <a:t>crun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7316" y="2084831"/>
            <a:ext cx="3454298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6EDF3"/>
                </a:solidFill>
                <a:latin typeface="Courier New"/>
              </a:rPr>
              <a:t># Podman · crun — startup time (100 containers)
$ time for i in $(seq 1 100); do
    podman run --runtime crun --rm alpine echo hi
  done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ourier New"/>
              </a:rPr>
              <a:t>// benchmark.sh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ourier New"/>
              </a:rPr>
              <a:t>13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9D353"/>
                </a:solidFill>
                <a:latin typeface="Courier New"/>
              </a:rPr>
              <a:t>DEMO: Expected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4415" cy="777240"/>
          </a:xfrm>
          <a:prstGeom prst="rect">
            <a:avLst/>
          </a:prstGeom>
          <a:solidFill>
            <a:srgbClr val="21262D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  <a:latin typeface="Courier New"/>
              </a:rPr>
              <a:t>Is youki faster than runc?   →   ~1.8× faster on startup; close to crun (only ~18% slower)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" y="2194560"/>
            <a:ext cx="777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0883E"/>
                </a:solidFill>
                <a:latin typeface="Courier New"/>
              </a:rPr>
              <a:t>crun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194560"/>
            <a:ext cx="3400022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194560"/>
            <a:ext cx="3400022" cy="65836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05862" y="2194560"/>
            <a:ext cx="1371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ourier New"/>
              </a:rPr>
              <a:t>~33ms  (46%)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" y="3264408"/>
            <a:ext cx="777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39D353"/>
                </a:solidFill>
                <a:latin typeface="Courier New"/>
              </a:rPr>
              <a:t>youki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264408"/>
            <a:ext cx="4018208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264408"/>
            <a:ext cx="4018208" cy="658368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4048" y="3264408"/>
            <a:ext cx="1371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ourier New"/>
              </a:rPr>
              <a:t>~39ms  (55%)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" y="4334256"/>
            <a:ext cx="777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79C0FF"/>
                </a:solidFill>
                <a:latin typeface="Courier New"/>
              </a:rPr>
              <a:t>runc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334256"/>
            <a:ext cx="731520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4334256"/>
            <a:ext cx="7315200" cy="658368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4334256"/>
            <a:ext cx="1371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ourier New"/>
              </a:rPr>
              <a:t>~71ms  (100%)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292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ourier New"/>
              </a:rPr>
              <a:t>Startup per container (100 containers avg)  ·  lower is better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4068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ourier New"/>
              </a:rPr>
              <a:t>▸  youki beats runc — 1.8× faster startup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064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ourier New"/>
              </a:rPr>
              <a:t>▸  youki vs crun — only ~18% slower — very close race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1722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ourier New"/>
              </a:rPr>
              <a:t>▸  youki gives you speed AND memory safety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ourier New"/>
              </a:rPr>
              <a:t>// benchmark_results.md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8655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ourier New"/>
              </a:rPr>
              <a:t>14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9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6EDF3"/>
                </a:solidFill>
                <a:latin typeface="Courier New"/>
              </a:rPr>
              <a:t>youki vs runc —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2560320" cy="512064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280160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949E"/>
                </a:solidFill>
                <a:latin typeface="Courier New"/>
              </a:rPr>
              <a:t>Feature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099816" y="1280160"/>
            <a:ext cx="2926080" cy="512064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72968" y="1280160"/>
            <a:ext cx="2834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D353"/>
                </a:solidFill>
                <a:latin typeface="Courier New"/>
              </a:rPr>
              <a:t>youki (Rust)</a:t>
            </a:r>
          </a:p>
        </p:txBody>
      </p:sp>
      <p:sp>
        <p:nvSpPr>
          <p:cNvPr id="8" name="Rectangle 7"/>
          <p:cNvSpPr/>
          <p:nvPr/>
        </p:nvSpPr>
        <p:spPr>
          <a:xfrm>
            <a:off x="6062472" y="1280160"/>
            <a:ext cx="2926080" cy="512064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35624" y="1280160"/>
            <a:ext cx="2834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9C0FF"/>
                </a:solidFill>
                <a:latin typeface="Courier New"/>
              </a:rPr>
              <a:t>runc (Go)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25128" y="1280160"/>
            <a:ext cx="2926080" cy="512064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280160"/>
            <a:ext cx="2834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883E"/>
                </a:solidFill>
                <a:latin typeface="Courier New"/>
              </a:rPr>
              <a:t>crun (C)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828800"/>
            <a:ext cx="256032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1828800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</a:rPr>
              <a:t>Language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99816" y="1828800"/>
            <a:ext cx="2926080" cy="512064"/>
          </a:xfrm>
          <a:prstGeom prst="rect">
            <a:avLst/>
          </a:prstGeom>
          <a:solidFill>
            <a:srgbClr val="0D2E16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72968" y="1828800"/>
            <a:ext cx="2834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9D353"/>
                </a:solidFill>
                <a:latin typeface="Courier New"/>
              </a:rPr>
              <a:t>🦀 Rust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62472" y="1828800"/>
            <a:ext cx="292608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35624" y="1828800"/>
            <a:ext cx="2834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</a:rPr>
              <a:t>Go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25128" y="1828800"/>
            <a:ext cx="292608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1828800"/>
            <a:ext cx="2834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</a:rPr>
              <a:t>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377440"/>
            <a:ext cx="256032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2377440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</a:rPr>
              <a:t>OCI Spec compliance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99816" y="2377440"/>
            <a:ext cx="2926080" cy="512064"/>
          </a:xfrm>
          <a:prstGeom prst="rect">
            <a:avLst/>
          </a:prstGeom>
          <a:solidFill>
            <a:srgbClr val="0D2E16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72968" y="2377440"/>
            <a:ext cx="2834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9D353"/>
                </a:solidFill>
                <a:latin typeface="Courier New"/>
              </a:rPr>
              <a:t>✓ Full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62472" y="2377440"/>
            <a:ext cx="292608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35624" y="2377440"/>
            <a:ext cx="2834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</a:rPr>
              <a:t>✓ Full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25128" y="2377440"/>
            <a:ext cx="292608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8280" y="2377440"/>
            <a:ext cx="2834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</a:rPr>
              <a:t>✓ Full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2926080"/>
            <a:ext cx="256032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" y="2926080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</a:rPr>
              <a:t>cgroups v2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99816" y="2926080"/>
            <a:ext cx="2926080" cy="512064"/>
          </a:xfrm>
          <a:prstGeom prst="rect">
            <a:avLst/>
          </a:prstGeom>
          <a:solidFill>
            <a:srgbClr val="0D2E16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72968" y="2926080"/>
            <a:ext cx="2834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9D353"/>
                </a:solidFill>
                <a:latin typeface="Courier New"/>
              </a:rPr>
              <a:t>✓ Native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62472" y="2926080"/>
            <a:ext cx="292608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2926080"/>
            <a:ext cx="2834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</a:rPr>
              <a:t>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25128" y="2926080"/>
            <a:ext cx="292608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98280" y="2926080"/>
            <a:ext cx="2834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</a:rPr>
              <a:t>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474720"/>
            <a:ext cx="256032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" y="3474720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</a:rPr>
              <a:t>Rootless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99816" y="3474720"/>
            <a:ext cx="2926080" cy="512064"/>
          </a:xfrm>
          <a:prstGeom prst="rect">
            <a:avLst/>
          </a:prstGeom>
          <a:solidFill>
            <a:srgbClr val="0D2E16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72968" y="3474720"/>
            <a:ext cx="2834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9D353"/>
                </a:solidFill>
                <a:latin typeface="Courier New"/>
              </a:rPr>
              <a:t>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62472" y="3474720"/>
            <a:ext cx="292608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3474720"/>
            <a:ext cx="2834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</a:rPr>
              <a:t>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25128" y="3474720"/>
            <a:ext cx="292608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98280" y="3474720"/>
            <a:ext cx="2834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</a:rPr>
              <a:t>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4023360"/>
            <a:ext cx="256032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6072" y="4023360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</a:rPr>
              <a:t>Seccomp / AppArmor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99816" y="4023360"/>
            <a:ext cx="2926080" cy="512064"/>
          </a:xfrm>
          <a:prstGeom prst="rect">
            <a:avLst/>
          </a:prstGeom>
          <a:solidFill>
            <a:srgbClr val="0D2E16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72968" y="4023360"/>
            <a:ext cx="2834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9D353"/>
                </a:solidFill>
                <a:latin typeface="Courier New"/>
              </a:rPr>
              <a:t>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62472" y="4023360"/>
            <a:ext cx="292608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4023360"/>
            <a:ext cx="2834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</a:rPr>
              <a:t>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25128" y="4023360"/>
            <a:ext cx="292608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98280" y="4023360"/>
            <a:ext cx="2834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</a:rPr>
              <a:t>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4572000"/>
            <a:ext cx="256032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6072" y="4572000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</a:rPr>
              <a:t>Memory (idle)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99816" y="4572000"/>
            <a:ext cx="2926080" cy="512064"/>
          </a:xfrm>
          <a:prstGeom prst="rect">
            <a:avLst/>
          </a:prstGeom>
          <a:solidFill>
            <a:srgbClr val="0D2E16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172968" y="4572000"/>
            <a:ext cx="2834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9D353"/>
                </a:solidFill>
                <a:latin typeface="Courier New"/>
              </a:rPr>
              <a:t>~10 MB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62472" y="4572000"/>
            <a:ext cx="292608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4572000"/>
            <a:ext cx="2834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</a:rPr>
              <a:t>~15–20 MB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25128" y="4572000"/>
            <a:ext cx="292608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98280" y="4572000"/>
            <a:ext cx="2834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</a:rPr>
              <a:t>~5 MB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" y="5120640"/>
            <a:ext cx="256032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76072" y="5120640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</a:rPr>
              <a:t>Binary size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099816" y="5120640"/>
            <a:ext cx="2926080" cy="512064"/>
          </a:xfrm>
          <a:prstGeom prst="rect">
            <a:avLst/>
          </a:prstGeom>
          <a:solidFill>
            <a:srgbClr val="0D2E16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172968" y="5120640"/>
            <a:ext cx="2834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9D353"/>
                </a:solidFill>
                <a:latin typeface="Courier New"/>
              </a:rPr>
              <a:t>~8 MB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62472" y="5120640"/>
            <a:ext cx="292608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5120640"/>
            <a:ext cx="2834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</a:rPr>
              <a:t>~12 MB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25128" y="5120640"/>
            <a:ext cx="292608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098280" y="5120640"/>
            <a:ext cx="2834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</a:rPr>
              <a:t>~700 KB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2920" y="5669280"/>
            <a:ext cx="256032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76072" y="5669280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</a:rPr>
              <a:t>Startup speed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99816" y="5669280"/>
            <a:ext cx="2926080" cy="512064"/>
          </a:xfrm>
          <a:prstGeom prst="rect">
            <a:avLst/>
          </a:prstGeom>
          <a:solidFill>
            <a:srgbClr val="0D2E16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172968" y="5669280"/>
            <a:ext cx="2834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9D353"/>
                </a:solidFill>
                <a:latin typeface="Courier New"/>
              </a:rPr>
              <a:t>~39ms  (fast)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62472" y="5669280"/>
            <a:ext cx="292608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5669280"/>
            <a:ext cx="2834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</a:rPr>
              <a:t>~71ms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25128" y="5669280"/>
            <a:ext cx="292608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098280" y="5669280"/>
            <a:ext cx="2834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</a:rPr>
              <a:t>~33ms  (fastest)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ourier New"/>
              </a:rPr>
              <a:t>// comparison.md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728655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ourier New"/>
              </a:rPr>
              <a:t>15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E6EDF3"/>
                </a:solidFill>
                <a:latin typeface="Courier New"/>
              </a:rPr>
              <a:t>Pros &amp; Cons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4415" cy="6858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ourier New"/>
              </a:rPr>
              <a:t>Should I replace runc with youki in production today?  →  Depends — great for Rust-first envs; runc is safer if you need battle-tested stability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5455767" cy="4023360"/>
          </a:xfrm>
          <a:prstGeom prst="rect">
            <a:avLst/>
          </a:prstGeom>
          <a:solidFill>
            <a:srgbClr val="0D2E16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84831"/>
            <a:ext cx="50900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9D353"/>
                </a:solidFill>
                <a:latin typeface="Courier New"/>
              </a:rPr>
              <a:t>✓  PROS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78608"/>
            <a:ext cx="509000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ourier New"/>
              </a:rPr>
              <a:t>✓  Memory safe — compile-time guarantee (no CVEs from mem bugs)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55848"/>
            <a:ext cx="509000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ourier New"/>
              </a:rPr>
              <a:t>✓  1.8× faster startup than runc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33088"/>
            <a:ext cx="509000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ourier New"/>
              </a:rPr>
              <a:t>✓  Drop-in replacement — same OCI 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10328"/>
            <a:ext cx="509000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ourier New"/>
              </a:rPr>
              <a:t>✓  Active community + clean, readable Rust codebase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7287" y="2011680"/>
            <a:ext cx="5455767" cy="4023360"/>
          </a:xfrm>
          <a:prstGeom prst="rect">
            <a:avLst/>
          </a:prstGeom>
          <a:solidFill>
            <a:srgbClr val="2E0D0D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0167" y="2084831"/>
            <a:ext cx="50900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7B72"/>
                </a:solidFill>
                <a:latin typeface="Courier New"/>
              </a:rPr>
              <a:t>✗  CONS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578608"/>
            <a:ext cx="509000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ourier New"/>
              </a:rPr>
              <a:t>✗  Less battle-tested than runc (prod since 2015)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0167" y="3355848"/>
            <a:ext cx="509000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ourier New"/>
              </a:rPr>
              <a:t>✗  Not default in major distros yet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4133088"/>
            <a:ext cx="509000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ourier New"/>
              </a:rPr>
              <a:t>✗  Requires Rust toolchain to build from 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4910328"/>
            <a:ext cx="509000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ourier New"/>
              </a:rPr>
              <a:t>✗  Slower than crun — C still wins on raw 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ourier New"/>
              </a:rPr>
              <a:t>// pros_cons.md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ourier New"/>
              </a:rPr>
              <a:t>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79C0FF"/>
                </a:solidFill>
                <a:latin typeface="Courier New"/>
              </a:rPr>
              <a:t>Runtime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Courier New"/>
              </a:rPr>
              <a:t>youki sits between runc (safety) and crun (speed) — uniquely memory safe without VM overhead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2560320" cy="64008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949E"/>
                </a:solidFill>
                <a:latin typeface="Courier New"/>
              </a:rPr>
              <a:t>Runtime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3172968" y="1600200"/>
            <a:ext cx="1097280" cy="64008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64408" y="160020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949E"/>
                </a:solidFill>
                <a:latin typeface="Courier New"/>
              </a:rPr>
              <a:t>Language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4256" y="1600200"/>
            <a:ext cx="6949440" cy="64008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25696" y="160020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949E"/>
                </a:solidFill>
                <a:latin typeface="Courier New"/>
              </a:rPr>
              <a:t>Best for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04288"/>
            <a:ext cx="256032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0428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9C0FF"/>
                </a:solidFill>
                <a:latin typeface="Courier New"/>
              </a:rPr>
              <a:t>runc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72968" y="2304288"/>
            <a:ext cx="109728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64408" y="2304288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</a:rPr>
              <a:t>Go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4256" y="2304288"/>
            <a:ext cx="694944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5696" y="2304288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</a:rPr>
              <a:t>Default everywhere · battle-tested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008376"/>
            <a:ext cx="256032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008376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883E"/>
                </a:solidFill>
                <a:latin typeface="Courier New"/>
              </a:rPr>
              <a:t>crun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72968" y="3008376"/>
            <a:ext cx="109728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64408" y="3008376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</a:rP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34256" y="3008376"/>
            <a:ext cx="694944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25696" y="3008376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</a:rPr>
              <a:t>Fastest + smallest · Fedora/RHEL Podman default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712464"/>
            <a:ext cx="2560320" cy="640080"/>
          </a:xfrm>
          <a:prstGeom prst="rect">
            <a:avLst/>
          </a:prstGeom>
          <a:solidFill>
            <a:srgbClr val="0D2E16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712464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D353"/>
                </a:solidFill>
                <a:latin typeface="Courier New"/>
              </a:rPr>
              <a:t>youki  ← here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72968" y="3712464"/>
            <a:ext cx="1097280" cy="640080"/>
          </a:xfrm>
          <a:prstGeom prst="rect">
            <a:avLst/>
          </a:prstGeom>
          <a:solidFill>
            <a:srgbClr val="0D2E16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64408" y="3712464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D353"/>
                </a:solidFill>
                <a:latin typeface="Courier New"/>
              </a:rPr>
              <a:t>🦀 Rust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34256" y="3712464"/>
            <a:ext cx="6949440" cy="640080"/>
          </a:xfrm>
          <a:prstGeom prst="rect">
            <a:avLst/>
          </a:prstGeom>
          <a:solidFill>
            <a:srgbClr val="0D2E16"/>
          </a:solidFill>
          <a:ln w="1270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25696" y="3712464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D353"/>
                </a:solidFill>
                <a:latin typeface="Courier New"/>
              </a:rPr>
              <a:t>Memory safe · growing community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416552"/>
            <a:ext cx="256032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1655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2A8FF"/>
                </a:solidFill>
                <a:latin typeface="Courier New"/>
              </a:rPr>
              <a:t>gVisor (runsc)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72968" y="4416552"/>
            <a:ext cx="109728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64408" y="4416552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</a:rPr>
              <a:t>Go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34256" y="4416552"/>
            <a:ext cx="694944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25696" y="4416552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</a:rPr>
              <a:t>User-space kernel · strong sandbox (Google)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120640"/>
            <a:ext cx="256032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1206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3B341"/>
                </a:solidFill>
                <a:latin typeface="Courier New"/>
              </a:rPr>
              <a:t>Kata Containers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72968" y="5120640"/>
            <a:ext cx="109728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64408" y="512064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</a:rP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34256" y="5120640"/>
            <a:ext cx="694944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25696" y="512064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</a:rPr>
              <a:t>Lightweight VMs · full kernel isolation (~1s start)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824728"/>
            <a:ext cx="256032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82472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9C5CF"/>
                </a:solidFill>
                <a:latin typeface="Courier New"/>
              </a:rPr>
              <a:t>Wasmtime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72968" y="5824728"/>
            <a:ext cx="109728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64408" y="5824728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</a:rPr>
              <a:t>Rust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34256" y="5824728"/>
            <a:ext cx="694944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25696" y="5824728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</a:rPr>
              <a:t>WebAssembly · tiny images · platform-agnostic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ourier New"/>
              </a:rPr>
              <a:t>// landscape.md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28655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ourier New"/>
              </a:rPr>
              <a:t>17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39D353"/>
                </a:solidFill>
                <a:latin typeface="Courier New"/>
              </a:rP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B949E"/>
                </a:solidFill>
                <a:latin typeface="Courier New"/>
              </a:rPr>
              <a:t>// end — 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6634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B949E"/>
                </a:solidFill>
                <a:latin typeface="Courier New"/>
              </a:rPr>
              <a:t>code  →  github.com/containers/youki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50749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B949E"/>
                </a:solidFill>
                <a:latin typeface="Courier New"/>
              </a:rPr>
              <a:t>spec  →  github.com/opencontainers/runtime-spec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54864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B949E"/>
                </a:solidFill>
                <a:latin typeface="Courier New"/>
              </a:rPr>
              <a:t>book  →  Presentation Zen — Garr Reynolds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ourier New"/>
              </a:rPr>
              <a:t>// youki-presentation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ourier New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